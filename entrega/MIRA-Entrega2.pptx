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ba3b420fd3486a" /><Relationship Type="http://schemas.openxmlformats.org/officeDocument/2006/relationships/extended-properties" Target="/docProps/app.xml" Id="R14d555ad234f4271" /><Relationship Type="http://schemas.openxmlformats.org/officeDocument/2006/relationships/officeDocument" Target="/ppt/presentation.xml" Id="R36ecdbc2dfeb4a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b982a1ecd746dd"/>
  </p:sldMasterIdLst>
  <p:notesMasterIdLst>
    <p:notesMasterId xmlns:r="http://schemas.openxmlformats.org/officeDocument/2006/relationships" r:id="Rf6d53986bc8e4d26"/>
  </p:notesMasterIdLst>
  <p:sldIdLst>
    <p:sldId xmlns:r="http://schemas.openxmlformats.org/officeDocument/2006/relationships" id="256" r:id="R2ed478eaba174fb8"/>
    <p:sldId xmlns:r="http://schemas.openxmlformats.org/officeDocument/2006/relationships" id="257" r:id="R514a9faa638d498e"/>
    <p:sldId xmlns:r="http://schemas.openxmlformats.org/officeDocument/2006/relationships" id="258" r:id="R6e99d312def64f84"/>
    <p:sldId xmlns:r="http://schemas.openxmlformats.org/officeDocument/2006/relationships" id="259" r:id="R5e770e08a7cb4948"/>
    <p:sldId xmlns:r="http://schemas.openxmlformats.org/officeDocument/2006/relationships" id="260" r:id="R296202c0ba3d4d2c"/>
    <p:sldId xmlns:r="http://schemas.openxmlformats.org/officeDocument/2006/relationships" id="261" r:id="Rc0e6da8c24b84170"/>
    <p:sldId xmlns:r="http://schemas.openxmlformats.org/officeDocument/2006/relationships" id="262" r:id="R288652822c6e44b9"/>
    <p:sldId xmlns:r="http://schemas.openxmlformats.org/officeDocument/2006/relationships" id="263" r:id="Rdfe98b77af80427d"/>
    <p:sldId xmlns:r="http://schemas.openxmlformats.org/officeDocument/2006/relationships" id="264" r:id="Rf1e9301daf654c4a"/>
    <p:sldId xmlns:r="http://schemas.openxmlformats.org/officeDocument/2006/relationships" id="265" r:id="Raeaeb096caba4de1"/>
    <p:sldId xmlns:r="http://schemas.openxmlformats.org/officeDocument/2006/relationships" id="266" r:id="R2a6e93fe2a7a4aa7"/>
    <p:sldId xmlns:r="http://schemas.openxmlformats.org/officeDocument/2006/relationships" id="267" r:id="R4947beb6d7704925"/>
    <p:sldId xmlns:r="http://schemas.openxmlformats.org/officeDocument/2006/relationships" id="268" r:id="R98a495b4e2c84b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3148bab1d345ee" /><Relationship Type="http://schemas.openxmlformats.org/officeDocument/2006/relationships/slideMaster" Target="/ppt/slideMasters/slideMaster1.xml" Id="R98b982a1ecd746dd" /><Relationship Type="http://schemas.openxmlformats.org/officeDocument/2006/relationships/notesMaster" Target="/ppt/notesMasters/notesMaster1.xml" Id="Rf6d53986bc8e4d26" /><Relationship Type="http://schemas.openxmlformats.org/officeDocument/2006/relationships/presProps" Target="/ppt/presProps.xml" Id="R15f3ffd5dabc4c6a" /><Relationship Type="http://schemas.openxmlformats.org/officeDocument/2006/relationships/tableStyles" Target="/ppt/tableStyles.xml" Id="R7150ede194c94261" /><Relationship Type="http://schemas.openxmlformats.org/officeDocument/2006/relationships/slide" Target="/ppt/slides/slide1.xml" Id="R2ed478eaba174fb8" /><Relationship Type="http://schemas.openxmlformats.org/officeDocument/2006/relationships/slide" Target="/ppt/slides/slide2.xml" Id="R514a9faa638d498e" /><Relationship Type="http://schemas.openxmlformats.org/officeDocument/2006/relationships/slide" Target="/ppt/slides/slide3.xml" Id="R6e99d312def64f84" /><Relationship Type="http://schemas.openxmlformats.org/officeDocument/2006/relationships/slide" Target="/ppt/slides/slide4.xml" Id="R5e770e08a7cb4948" /><Relationship Type="http://schemas.openxmlformats.org/officeDocument/2006/relationships/slide" Target="/ppt/slides/slide5.xml" Id="R296202c0ba3d4d2c" /><Relationship Type="http://schemas.openxmlformats.org/officeDocument/2006/relationships/slide" Target="/ppt/slides/slide6.xml" Id="Rc0e6da8c24b84170" /><Relationship Type="http://schemas.openxmlformats.org/officeDocument/2006/relationships/slide" Target="/ppt/slides/slide7.xml" Id="R288652822c6e44b9" /><Relationship Type="http://schemas.openxmlformats.org/officeDocument/2006/relationships/slide" Target="/ppt/slides/slide8.xml" Id="Rdfe98b77af80427d" /><Relationship Type="http://schemas.openxmlformats.org/officeDocument/2006/relationships/slide" Target="/ppt/slides/slide9.xml" Id="Rf1e9301daf654c4a" /><Relationship Type="http://schemas.openxmlformats.org/officeDocument/2006/relationships/slide" Target="/ppt/slides/slide10.xml" Id="Raeaeb096caba4de1" /><Relationship Type="http://schemas.openxmlformats.org/officeDocument/2006/relationships/slide" Target="/ppt/slides/slide11.xml" Id="R2a6e93fe2a7a4aa7" /><Relationship Type="http://schemas.openxmlformats.org/officeDocument/2006/relationships/slide" Target="/ppt/slides/slide12.xml" Id="R4947beb6d7704925" /><Relationship Type="http://schemas.openxmlformats.org/officeDocument/2006/relationships/slide" Target="/ppt/slides/slide13.xml" Id="R98a495b4e2c84b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247bb247b845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e5c94295bb426b" /><Relationship Type="http://schemas.openxmlformats.org/officeDocument/2006/relationships/notesMaster" Target="/ppt/notesMasters/notesMaster1.xml" Id="R752f37969b4e4c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c4800775e94147" /><Relationship Type="http://schemas.openxmlformats.org/officeDocument/2006/relationships/notesMaster" Target="/ppt/notesMasters/notesMaster1.xml" Id="Rc0859922d24c4e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81c2972ca54211" /><Relationship Type="http://schemas.openxmlformats.org/officeDocument/2006/relationships/notesMaster" Target="/ppt/notesMasters/notesMaster1.xml" Id="R663880e2228948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d408279d9e4d37" /><Relationship Type="http://schemas.openxmlformats.org/officeDocument/2006/relationships/notesMaster" Target="/ppt/notesMasters/notesMaster1.xml" Id="R506b36b8d68d44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bd73c338a84ed9" /><Relationship Type="http://schemas.openxmlformats.org/officeDocument/2006/relationships/notesMaster" Target="/ppt/notesMasters/notesMaster1.xml" Id="Rf5a3136ef27342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228b6e9afe4f9e" /><Relationship Type="http://schemas.openxmlformats.org/officeDocument/2006/relationships/notesMaster" Target="/ppt/notesMasters/notesMaster1.xml" Id="Rb545888ad2b848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ea82d33d00458d" /><Relationship Type="http://schemas.openxmlformats.org/officeDocument/2006/relationships/notesMaster" Target="/ppt/notesMasters/notesMaster1.xml" Id="R1369eec9ee2f42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31c3e85531475a" /><Relationship Type="http://schemas.openxmlformats.org/officeDocument/2006/relationships/notesMaster" Target="/ppt/notesMasters/notesMaster1.xml" Id="Rc00cd73e6c9b48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0b065c27bf465b" /><Relationship Type="http://schemas.openxmlformats.org/officeDocument/2006/relationships/notesMaster" Target="/ppt/notesMasters/notesMaster1.xml" Id="Rdefa5aba173146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f4e11c31054a6e" /><Relationship Type="http://schemas.openxmlformats.org/officeDocument/2006/relationships/notesMaster" Target="/ppt/notesMasters/notesMaster1.xml" Id="R7264d9a37ed648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5e23d311e74b18" /><Relationship Type="http://schemas.openxmlformats.org/officeDocument/2006/relationships/notesMaster" Target="/ppt/notesMasters/notesMaster1.xml" Id="R460d4cf261d74a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55abf6434446a8" /><Relationship Type="http://schemas.openxmlformats.org/officeDocument/2006/relationships/notesMaster" Target="/ppt/notesMasters/notesMaster1.xml" Id="R6b2965e6941d44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b1e576123d4de0" /><Relationship Type="http://schemas.openxmlformats.org/officeDocument/2006/relationships/notesMaster" Target="/ppt/notesMasters/notesMaster1.xml" Id="R9430908866dd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propuesta: 15 minutos. Distribución sugerida: contexto 2 min, método 3, demo 4, comparación y pruebas 5, cierre 1. Equipo: completar grupo y acordar participación. No se declara una exposición ya realizada.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baseline F4/F1, PRD FR1…17; enunciado §4.2 y §4.3. No hay motor real ni inferencia implementada.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SPEC-F4, policy-cases.md, CC-F4-01…09. Umbral 90 y mínimos 70 corresponden al piloto aprobado; F4 no calcula el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docs/informe-candidato.md §6.3, _bmad-output y plan-cierre-mira-e2-f4-f1. Snapshot BMAD identificado por commit; versión semántica no acreditada.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Starter 356b4d5 / baseline auditada 4337a3a. DEC-E2-08 aprobada por el usuario en esta sesión; no se atribuye a Sebastián. Correcciones integradas en main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propuesta 2 minutos. Abrir /ejecutar-f4/. Probar ERROR y borrador, comprobar original preservado. Captura técnica ficticia, no aceptación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propuesta 2 minutos. CC-F1-01 para corrección, CC-F1-04 para antecedentes. No hay nueva evidencia ni reapertura completa; fuera de alcance SPEC-F1.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ConcurrentReviewTests usa conexiones SQLite reales. test_restart.py comprueba procesos distintos. Reloj controlado e inyectable; no se oculta como reloj de producción. CC-F1-05/06 y PF14.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docs/trazabilidad-must.md y informe §6.6. Nueve requisitos seleccionados: siete Must y dos Should. No se afirma cobertura de todo MIRA.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Informe §6.3, §6.4 y segunda tabla §6.6. No se conocen horas, tokens ni procedencia humana exacta del starter. Representante E2: Sebastián; aceptación aún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Informe §6.6. Cadena SPEC+historia+código+prueba. El tercer indicador considera p95, RSS y CPU. No mezcla diagnóstico local con certificación AD15.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docs/qa/measurements.json, reproducibility.json y suites. Medición con 100 casos y 3 evidencias, 30 muestras y 30 revisiones. Se informa CPU incluyendo límites del muestreo. Medición actual commit 632dc13; sin brechas de contadores observadas.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docs/qa/actas-pendientes.md y conclusiones del informe. El repo se entrega en main local; BMAD prohíbe auto-push. No declarar aceptación ni publicación remota.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72cf2fb2349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e4a7091094d8e" /><Relationship Type="http://schemas.openxmlformats.org/officeDocument/2006/relationships/slideLayout" Target="/ppt/slideLayouts/slideLayout1.xml" Id="R70cef9d70f144d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cef9d70f144d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19a92d32b4eb0" /><Relationship Type="http://schemas.openxmlformats.org/officeDocument/2006/relationships/notesSlide" Target="/ppt/notesSlides/notesSlide1.xml" Id="R4bad1d62339043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f219e33a9419a" /><Relationship Type="http://schemas.openxmlformats.org/officeDocument/2006/relationships/notesSlide" Target="/ppt/notesSlides/notesSlide2.xml" Id="R5f382e843c5642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ec62d04c84b92" /><Relationship Type="http://schemas.openxmlformats.org/officeDocument/2006/relationships/notesSlide" Target="/ppt/notesSlides/notesSlide3.xml" Id="R8cbfdafdb6cd48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3fbfeef624f06" /><Relationship Type="http://schemas.openxmlformats.org/officeDocument/2006/relationships/notesSlide" Target="/ppt/notesSlides/notesSlide4.xml" Id="R6f759680d1ba4f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dbfebad1a4f1c" /><Relationship Type="http://schemas.openxmlformats.org/officeDocument/2006/relationships/notesSlide" Target="/ppt/notesSlides/notesSlide5.xml" Id="R05e8da5974bf45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e8fc320154115" /><Relationship Type="http://schemas.openxmlformats.org/officeDocument/2006/relationships/image" Target="/ppt/media/image.jpeg" Id="Rc6d3739fc1c64e36" /><Relationship Type="http://schemas.openxmlformats.org/officeDocument/2006/relationships/notesSlide" Target="/ppt/notesSlides/notesSlide6.xml" Id="R523edc5d3a5944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134fe424b4534" /><Relationship Type="http://schemas.openxmlformats.org/officeDocument/2006/relationships/image" Target="/ppt/media/image2.jpeg" Id="R7e586a4fd58740fc" /><Relationship Type="http://schemas.openxmlformats.org/officeDocument/2006/relationships/notesSlide" Target="/ppt/notesSlides/notesSlide7.xml" Id="R001e4e875cff40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9162dc0f348eb" /><Relationship Type="http://schemas.openxmlformats.org/officeDocument/2006/relationships/notesSlide" Target="/ppt/notesSlides/notesSlide8.xml" Id="Rfb730de4f6bf4d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1aa9d3bd046ad" /><Relationship Type="http://schemas.openxmlformats.org/officeDocument/2006/relationships/notesSlide" Target="/ppt/notesSlides/notesSlide9.xml" Id="Rde775943bf2144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9d6d7455749bf" /><Relationship Type="http://schemas.openxmlformats.org/officeDocument/2006/relationships/notesSlide" Target="/ppt/notesSlides/notesSlide10.xml" Id="R6ae6c5ffe05747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a880ebf474564" /><Relationship Type="http://schemas.openxmlformats.org/officeDocument/2006/relationships/notesSlide" Target="/ppt/notesSlides/notesSlide11.xml" Id="Rf2f349dbfd244c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daff3f77141b9" /><Relationship Type="http://schemas.openxmlformats.org/officeDocument/2006/relationships/notesSlide" Target="/ppt/notesSlides/notesSlide12.xml" Id="R55a30074182b4f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a7329e1a14cf6" /><Relationship Type="http://schemas.openxmlformats.org/officeDocument/2006/relationships/notesSlide" Target="/ppt/notesSlides/notesSlide13.xml" Id="R8f35eed35faa45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9253707-389B-4A0A-85AF-870C039F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MIRA · Entrega 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8DAEF0-E227-41EC-93BF-16A677DC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777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777C"/>
                </a:solidFill>
                <a:latin typeface="Arial"/>
                <a:ea typeface="Arial"/>
                <a:cs typeface="Arial"/>
              </a:rPr>
              <a:t>De requisitos a decisiones verificables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E413865-BD68-4B10-AAED-4E4D819B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Grupo: 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Lukas Scheel · Francisca Meyer · Sebastián Rodríguez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F4: decisión automática · F1: revisión humana</a:t>
            </a:r>
          </a:p>
          <a:p xmlns:a="http://schemas.openxmlformats.org/drawingml/2006/main">
            <a:pPr>
              <a:defRPr sz="2250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Candidato local · octubre 2026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3D9D9B-6ECD-4B0F-B75A-9CDC30A2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7375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BF45819-2A81-4B83-94AF-C8031C9E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Dos funciones conectadas</a:t>
            </a:r>
          </a:p>
        </p:txBody>
      </p:sp>
      <p:sp>
        <p:nvSpPr>
          <p:cNvPr id="2" name="col-title-0">
            <a:extLst xmlns:a="http://schemas.openxmlformats.org/drawingml/2006/main">
              <a:ext uri="{FF2B5EF4-FFF2-40B4-BE49-F238E27FC236}">
                <a16:creationId xmlns:a16="http://schemas.microsoft.com/office/drawing/2014/main" id="{40376C80-3E08-499E-A65F-4DB96024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77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777C"/>
                </a:solidFill>
                <a:latin typeface="Arial"/>
                <a:ea typeface="Arial"/>
                <a:cs typeface="Arial"/>
              </a:rPr>
              <a:t>F4 · política conservadora</a:t>
            </a:r>
          </a:p>
        </p:txBody>
      </p:sp>
      <p:sp>
        <p:nvSpPr>
          <p:cNvPr id="3" name="col-body-0">
            <a:extLst xmlns:a="http://schemas.openxmlformats.org/drawingml/2006/main">
              <a:ext uri="{FF2B5EF4-FFF2-40B4-BE49-F238E27FC236}">
                <a16:creationId xmlns:a16="http://schemas.microsoft.com/office/drawing/2014/main" id="{EF3D7BDE-7D38-471D-B60F-3F18CC6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048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Consume el motor simulado.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Deriva casos a revisión o escalamiento y limita la aprobación.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H-15: precisar mínimos por señal.</a:t>
            </a:r>
          </a:p>
        </p:txBody>
      </p:sp>
      <p:sp>
        <p:nvSpPr>
          <p:cNvPr id="4" name="col-title-1">
            <a:extLst xmlns:a="http://schemas.openxmlformats.org/drawingml/2006/main">
              <a:ext uri="{FF2B5EF4-FFF2-40B4-BE49-F238E27FC236}">
                <a16:creationId xmlns:a16="http://schemas.microsoft.com/office/drawing/2014/main" id="{754FAF31-ED36-4228-AF5A-15F4139A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77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777C"/>
                </a:solidFill>
                <a:latin typeface="Arial"/>
                <a:ea typeface="Arial"/>
                <a:cs typeface="Arial"/>
              </a:rPr>
              <a:t>F1 · intervención humana</a:t>
            </a:r>
          </a:p>
        </p:txBody>
      </p:sp>
      <p:sp>
        <p:nvSpPr>
          <p:cNvPr id="5" name="col-body-1">
            <a:extLst xmlns:a="http://schemas.openxmlformats.org/drawingml/2006/main">
              <a:ext uri="{FF2B5EF4-FFF2-40B4-BE49-F238E27FC236}">
                <a16:creationId xmlns:a16="http://schemas.microsoft.com/office/drawing/2014/main" id="{9E6E512D-1D8C-46A7-85FB-3F5921CF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19375"/>
            <a:ext cx="5048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Muestra evidencia antes del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Exige motivo, conserva originales y permite corregir importe.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Un caso y una evaluación unen el recorrido.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910B64-89E2-4897-B7A9-16EC80C2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3135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3454CFA-ED92-41E4-98D2-6D067EF6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F4 · fronteras que se pueden comprobar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92240"/>
                <a:gridCol w="432816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Condición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Salida esperada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Entrada inválida / señal fuera de rango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ERROR corregible</a:t>
                      </a:r>
                    </a:p>
                  </a:txBody>
                  <a:tcPr marL="114300" marR="114300" marT="95250" marB="9525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Fraude o score &lt; 60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ESCALADO</a:t>
                      </a:r>
                    </a:p>
                  </a:txBody>
                  <a:tcPr marL="114300" marR="114300" marT="95250" marB="9525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Score &gt; 90 + ambas señales ≥ 70 + ON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APROBADO</a:t>
                      </a:r>
                    </a:p>
                  </a:txBody>
                  <a:tcPr marL="114300" marR="114300" marT="95250" marB="9525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Resto; incluye score 60 y 90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REVISIÓN</a:t>
                      </a:r>
                    </a:p>
                  </a:txBody>
                  <a:tcPr marL="114300" marR="114300" marT="95250" marB="95250"/>
                </a:tc>
              </a:tr>
            </a:tbl>
          </a:graphicData>
        </a:graphic>
      </p:graphicFrame>
      <p:sp>
        <p:nvSpPr>
          <p:cNvPr id="3" name="note">
            <a:extLst xmlns:a="http://schemas.openxmlformats.org/drawingml/2006/main">
              <a:ext uri="{FF2B5EF4-FFF2-40B4-BE49-F238E27FC236}">
                <a16:creationId xmlns:a16="http://schemas.microsoft.com/office/drawing/2014/main" id="{0057A43A-3C54-4B61-83C4-F372AC45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Precedencia: error → fraude → barreras. Nunca rechazo automático.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17A804-FB69-4839-9893-5ED306E0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1045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05396DE-04E5-4F92-AB34-7D29B4AB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BMAD · artefactos que guiaron el incremento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7213600"/>
              </a:tblGrid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Fase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Artefacto y decisión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Análisis / PRD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Brief V2; alcance F4/F1; DEC-E2</a:t>
                      </a:r>
                    </a:p>
                  </a:txBody>
                  <a:tcPr marL="114300" marR="114300" marT="95250" marB="95250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UX / arquitectura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Evidencia primero; SQLite y CAS</a:t>
                      </a:r>
                    </a:p>
                  </a:txBody>
                  <a:tcPr marL="114300" marR="114300" marT="95250" marB="95250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Contratos / planificación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SPEC, corpus y plan aprobado</a:t>
                      </a:r>
                    </a:p>
                  </a:txBody>
                  <a:tcPr marL="114300" marR="114300" marT="95250" marB="95250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Implementación / revisión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Código, suites, hashes y cuatro lentes</a:t>
                      </a:r>
                    </a:p>
                  </a:txBody>
                  <a:tcPr marL="114300" marR="114300" marT="95250" marB="95250"/>
                </a:tc>
              </a:tr>
            </a:tbl>
          </a:graphicData>
        </a:graphic>
      </p:graphicFrame>
      <p:sp>
        <p:nvSpPr>
          <p:cNvPr id="3" name="note">
            <a:extLst xmlns:a="http://schemas.openxmlformats.org/drawingml/2006/main">
              <a:ext uri="{FF2B5EF4-FFF2-40B4-BE49-F238E27FC236}">
                <a16:creationId xmlns:a16="http://schemas.microsoft.com/office/drawing/2014/main" id="{4823ABBB-DE36-4C91-B174-34351912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La aprobación del usuario fija el criterio; las pruebas verifican el comportamiento.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3C8288-2F03-4E4B-8C90-24FE1765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0698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596D617-F32D-4EA6-9283-A54F904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Tres cambios frente al starter</a:t>
            </a:r>
          </a:p>
        </p:txBody>
      </p:sp>
      <p:sp>
        <p:nvSpPr>
          <p:cNvPr id="2" name="col-title-0">
            <a:extLst xmlns:a="http://schemas.openxmlformats.org/drawingml/2006/main">
              <a:ext uri="{FF2B5EF4-FFF2-40B4-BE49-F238E27FC236}">
                <a16:creationId xmlns:a16="http://schemas.microsoft.com/office/drawing/2014/main" id="{1D76C639-9AE3-4BC4-B036-0E775512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77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777C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3" name="col-body-0">
            <a:extLst xmlns:a="http://schemas.openxmlformats.org/drawingml/2006/main">
              <a:ext uri="{FF2B5EF4-FFF2-40B4-BE49-F238E27FC236}">
                <a16:creationId xmlns:a16="http://schemas.microsoft.com/office/drawing/2014/main" id="{FD2FDDD4-A9B9-428D-84C2-C451E10D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048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Historial en memoria.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Decisiones sin protección de versión.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Discrepancia inferida al aprobar o rechazar.</a:t>
            </a:r>
          </a:p>
        </p:txBody>
      </p:sp>
      <p:sp>
        <p:nvSpPr>
          <p:cNvPr id="4" name="col-title-1">
            <a:extLst xmlns:a="http://schemas.openxmlformats.org/drawingml/2006/main">
              <a:ext uri="{FF2B5EF4-FFF2-40B4-BE49-F238E27FC236}">
                <a16:creationId xmlns:a16="http://schemas.microsoft.com/office/drawing/2014/main" id="{30F618A0-442E-44DD-8823-2DB0EFB0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77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777C"/>
                </a:solidFill>
                <a:latin typeface="Arial"/>
                <a:ea typeface="Arial"/>
                <a:cs typeface="Arial"/>
              </a:rPr>
              <a:t>Candidato</a:t>
            </a:r>
          </a:p>
        </p:txBody>
      </p:sp>
      <p:sp>
        <p:nvSpPr>
          <p:cNvPr id="5" name="col-body-1">
            <a:extLst xmlns:a="http://schemas.openxmlformats.org/drawingml/2006/main">
              <a:ext uri="{FF2B5EF4-FFF2-40B4-BE49-F238E27FC236}">
                <a16:creationId xmlns:a16="http://schemas.microsoft.com/office/drawing/2014/main" id="{D78A79E9-32FD-4E18-9369-E1A36D5B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19375"/>
            <a:ext cx="5048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Snapshots y eventos SQLite.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CAS: un ganador ante concurrencia.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Desacuerdo declarado; corrección marca discrepancia.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FAA440-4B62-4E48-B532-E7564C5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01190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646C9E1-AB70-4859-9DAF-A202F0BE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Demo F4 · resultado y evidencia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3739fc1c64e36"/>
          <a:stretch xmlns:a="http://schemas.openxmlformats.org/drawingml/2006/main"/>
        </p:blipFill>
        <p:spPr>
          <a:xfrm xmlns:a="http://schemas.openxmlformats.org/drawingml/2006/main">
            <a:off x="901074" y="1657350"/>
            <a:ext cx="6427453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image-description">
            <a:extLst xmlns:a="http://schemas.openxmlformats.org/drawingml/2006/main">
              <a:ext uri="{FF2B5EF4-FFF2-40B4-BE49-F238E27FC236}">
                <a16:creationId xmlns:a16="http://schemas.microsoft.com/office/drawing/2014/main" id="{B12A2E40-8BE3-4AD3-A82D-89FCCB0C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3619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CC-F4-03 / 04</a:t>
            </a:r>
          </a:p>
          <a:p xmlns:a="http://schemas.openxmlformats.org/drawingml/2006/main">
            <a:pPr>
              <a:defRPr sz="18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Frontera 90 / 90,01.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CC-F4-09</a:t>
            </a:r>
          </a:p>
          <a:p xmlns:a="http://schemas.openxmlformats.org/drawingml/2006/main">
            <a:pPr>
              <a:defRPr sz="18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Corregir score 101.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Abrir el caso generado y comprobar su evaluación persistida.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8A01DA-ECC5-46B3-A951-EF1DE05E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4779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90939C-063F-443A-BA8F-93F0C0A3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Demo F1 · evidencia y corrección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86a4fd58740fc"/>
          <a:stretch xmlns:a="http://schemas.openxmlformats.org/drawingml/2006/main"/>
        </p:blipFill>
        <p:spPr>
          <a:xfrm xmlns:a="http://schemas.openxmlformats.org/drawingml/2006/main">
            <a:off x="899869" y="1657350"/>
            <a:ext cx="6429862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image-description">
            <a:extLst xmlns:a="http://schemas.openxmlformats.org/drawingml/2006/main">
              <a:ext uri="{FF2B5EF4-FFF2-40B4-BE49-F238E27FC236}">
                <a16:creationId xmlns:a16="http://schemas.microsoft.com/office/drawing/2014/main" id="{D035DF4A-7D8A-4218-A8F4-A3F38781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3619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Abrir PDF / 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Importe:</a:t>
            </a:r>
          </a:p>
          <a:p xmlns:a="http://schemas.openxmlformats.org/drawingml/2006/main">
            <a:pPr>
              <a:defRPr sz="18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120000 → 100000.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Categoría y motivo.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Original y corrección quedan en el historial.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113197-10D1-40D6-9481-5DA56EA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68398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8BF982-394A-42A5-95B9-6952842E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Concurrencia, permanencia y plazos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F9566B-8287-465A-9024-8BE5D6BD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Dos operadores: una versión gana; el otro debe recargar.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Reinicio: evaluación e intervenciones conservadas.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3 días hábiles de meta y 5 de compromiso.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Santiago, lunes a viernes; vencido permanece abierto.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42216F-A786-4917-98A3-9E67062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514508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A4FDDD-F0B0-428F-8AE1-29B16EBB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Comparación · requisitos seleccionados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7213600"/>
              </a:tblGrid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E1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Cambio verificado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RQF-004 / RQF-005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Barreras; motivos; CAS; importe original</a:t>
                      </a:r>
                    </a:p>
                  </a:txBody>
                  <a:tcPr marL="114300" marR="114300" marT="95250" marB="95250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RQF-014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Calendario, alertas y vencido abierto</a:t>
                      </a:r>
                    </a:p>
                  </a:txBody>
                  <a:tcPr marL="114300" marR="114300" marT="95250" marB="95250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RQF-003 / RQF-008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Evidencia simulada y procedencia durable</a:t>
                      </a:r>
                    </a:p>
                  </a:txBody>
                  <a:tcPr marL="114300" marR="114300" marT="95250" marB="95250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RNF de calidad y usabilidad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Corpus probado; aceptación externa pendiente</a:t>
                      </a:r>
                    </a:p>
                  </a:txBody>
                  <a:tcPr marL="114300" marR="114300" marT="95250" marB="95250"/>
                </a:tc>
              </a:tr>
            </a:tbl>
          </a:graphicData>
        </a:graphic>
      </p:graphicFrame>
      <p:sp>
        <p:nvSpPr>
          <p:cNvPr id="3" name="note">
            <a:extLst xmlns:a="http://schemas.openxmlformats.org/drawingml/2006/main">
              <a:ext uri="{FF2B5EF4-FFF2-40B4-BE49-F238E27FC236}">
                <a16:creationId xmlns:a16="http://schemas.microsoft.com/office/drawing/2014/main" id="{705EC298-3595-4FFF-9A1F-EF806ED0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La matriz completa conserva IDs E1 y enlaza SPEC → historia → código → prueba.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BD9B02-654D-46E9-AF53-82AD4B5A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6096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BDC6FAD-29B3-4BC2-91F2-E3D7186B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Decisiones y autoría · qué se puede atribuir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7213600"/>
              </a:tblGrid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Decisión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Origen y evolución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Nunca rechazo automático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DEC01; conservada en contratos y código</a:t>
                      </a:r>
                    </a:p>
                  </a:txBody>
                  <a:tcPr marL="114300" marR="114300" marT="95250" marB="95250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Mínimos 70 / piloto 90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DEC-E2-01/02; no calibración productiva</a:t>
                      </a:r>
                    </a:p>
                  </a:txBody>
                  <a:tcPr marL="114300" marR="114300" marT="95250" marB="95250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Discrepancia declarada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Usuario aprueba DEC-E2-08; agente implementa</a:t>
                      </a:r>
                    </a:p>
                  </a:txBody>
                  <a:tcPr marL="114300" marR="114300" marT="95250" marB="95250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Código del incremento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Codex; aprobación humana no equivale a líneas</a:t>
                      </a:r>
                    </a:p>
                  </a:txBody>
                  <a:tcPr marL="114300" marR="114300" marT="95250" marB="95250"/>
                </a:tc>
              </a:tr>
            </a:tbl>
          </a:graphicData>
        </a:graphic>
      </p:graphicFrame>
      <p:sp>
        <p:nvSpPr>
          <p:cNvPr id="3" name="note">
            <a:extLst xmlns:a="http://schemas.openxmlformats.org/drawingml/2006/main">
              <a:ext uri="{FF2B5EF4-FFF2-40B4-BE49-F238E27FC236}">
                <a16:creationId xmlns:a16="http://schemas.microsoft.com/office/drawing/2014/main" id="{786CEA4D-F7A9-4864-8671-8F271A3F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Se conserva el historial y se explicitan fuentes sin inventar participación.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D78B28-ACFA-4E5A-BFF6-1BBA8EEC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25003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C4FEAB-7CF2-44C8-B76F-FBE9AE5E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Tres indicadores · fórmulas propuestas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005667"/>
                <a:gridCol w="4207933"/>
              </a:tblGrid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Indicador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Límite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Cadena de Must seleccionados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7 / 7 = 100 %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Existencia ≠ aceptación</a:t>
                      </a:r>
                    </a:p>
                  </a:txBody>
                  <a:tcPr marL="114300" marR="114300" marT="95250" marB="95250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Salidas esperadas F4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9 / 9 = 100 %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Corpus ficticio pequeño</a:t>
                      </a:r>
                    </a:p>
                  </a:txBody>
                  <a:tcPr marL="114300" marR="114300" marT="95250" marB="95250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Umbrales observados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2 / 3 = 66,7 %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Entorno sin acreditar</a:t>
                      </a:r>
                    </a:p>
                  </a:txBody>
                  <a:tcPr marL="114300" marR="114300" marT="95250" marB="95250"/>
                </a:tc>
              </a:tr>
            </a:tbl>
          </a:graphicData>
        </a:graphic>
      </p:graphicFrame>
      <p:sp>
        <p:nvSpPr>
          <p:cNvPr id="3" name="note">
            <a:extLst xmlns:a="http://schemas.openxmlformats.org/drawingml/2006/main">
              <a:ext uri="{FF2B5EF4-FFF2-40B4-BE49-F238E27FC236}">
                <a16:creationId xmlns:a16="http://schemas.microsoft.com/office/drawing/2014/main" id="{2D6DEC58-EDEB-42B3-85DA-B7064767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El enunciado pide tres indicadores; estas fórmulas son propuestas del informe.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77F5EE-2EB2-4A50-8EBE-1DAA91EC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55701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9DC9B0-E63D-4858-85F2-64CABC78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Verificación · evidencia y límites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11900"/>
                <a:gridCol w="450850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Comprobación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A48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114300" marR="114300" marT="95250" marB="95250">
                    <a:solidFill>
                      <a:srgbClr val="E8F1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Django + pytest / Chromium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33 Django + 8 pytest OK</a:t>
                      </a:r>
                    </a:p>
                  </a:txBody>
                  <a:tcPr marL="114300" marR="114300" marT="95250" marB="9525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p95 ≤ 2 s · RSS ≤ 1 GiB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0.523 s · 798.2 MiB</a:t>
                      </a:r>
                    </a:p>
                  </a:txBody>
                  <a:tcPr marL="114300" marR="114300" marT="95250" marB="9525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CPU promedio ≤ 1 núcleo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1.324 núcleos · excede</a:t>
                      </a:r>
                    </a:p>
                  </a:txBody>
                  <a:tcPr marL="114300" marR="114300" marT="95250" marB="9525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Hardware 2 vCPU / 4 GiB</a:t>
                      </a:r>
                    </a:p>
                  </a:txBody>
                  <a:tcPr marL="114300" marR="114300" marT="9525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1303C"/>
                          </a:solidFill>
                          <a:latin typeface="Arial"/>
                          <a:ea typeface="Arial"/>
                          <a:cs typeface="Arial"/>
                        </a:rPr>
                        <a:t>No acreditado en este equipo</a:t>
                      </a:r>
                    </a:p>
                  </a:txBody>
                  <a:tcPr marL="114300" marR="114300" marT="95250" marB="95250"/>
                </a:tc>
              </a:tr>
            </a:tbl>
          </a:graphicData>
        </a:graphic>
      </p:graphicFrame>
      <p:sp>
        <p:nvSpPr>
          <p:cNvPr id="3" name="note">
            <a:extLst xmlns:a="http://schemas.openxmlformats.org/drawingml/2006/main">
              <a:ext uri="{FF2B5EF4-FFF2-40B4-BE49-F238E27FC236}">
                <a16:creationId xmlns:a16="http://schemas.microsoft.com/office/drawing/2014/main" id="{51021384-05CF-4F63-AF0B-DB225C3B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Las pruebas automatizadas no sustituyen PX-05 ni aceptación del cliente.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E82F3C-5698-4A8B-8B91-30DF7C9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060900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5EF2E7-8522-4615-A597-AEE7DC4F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3" b="1">
                <a:solidFill>
                  <a:srgbClr val="123A48"/>
                </a:solidFill>
                <a:latin typeface="Arial"/>
                <a:ea typeface="Arial"/>
                <a:cs typeface="Arial"/>
              </a:defRPr>
            </a:pPr>
            <a:r>
              <a:rPr sz="3203" b="1">
                <a:solidFill>
                  <a:srgbClr val="123A48"/>
                </a:solidFill>
                <a:latin typeface="Arial"/>
                <a:ea typeface="Arial"/>
                <a:cs typeface="Arial"/>
              </a:rPr>
              <a:t>Cierre · candidato y validación pendiente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121ECA-96A6-4A44-823E-8CA67894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Demostrado: política, evidencia, corrección, CAS e historial.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Pendiente: PX-05 externo y aceptación de Sebastián.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Repetir reproducción y recursos en el entorno acordado.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Completar grupo y reflexión personal del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1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03C"/>
                </a:solidFill>
                <a:latin typeface="Arial"/>
                <a:ea typeface="Arial"/>
                <a:cs typeface="Arial"/>
              </a:rPr>
              <a:t>Reservar v2.0 final para el cierre validado.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FD3337-3546-4BE8-ADF3-3AE7F92D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85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858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4291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2026-10-04T05:13:28.4010000Z</dcterms:created>
  <dcterms:modified xsi:type="dcterms:W3CDTF">2026-10-04T05:13:28.4010000Z</dcterms:modified>
</coreProperties>
</file>